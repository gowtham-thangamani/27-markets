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3108960"/>
          </a:xfrm>
          <a:prstGeom prst="rect">
            <a:avLst/>
          </a:prstGeom>
          <a:noFill/>
        </p:spPr>
        <p:txBody>
          <a:bodyPr wrap="square">
            <a:spAutoFit/>
          </a:bodyPr>
          <a:lstStyle/>
          <a:p>
            <a:r>
              <a:rPr sz="4600" b="1">
                <a:solidFill>
                  <a:srgbClr val="E11D2E"/>
                </a:solidFill>
              </a:rPr>
              <a:t>27 MARKETS</a:t>
            </a:r>
          </a:p>
          <a:p>
            <a:r>
              <a:rPr sz="1500" i="1">
                <a:solidFill>
                  <a:srgbClr val="6B707A"/>
                </a:solidFill>
              </a:rPr>
              <a:t>Trade Beyond Limits</a:t>
            </a:r>
          </a:p>
          <a:p>
            <a:pPr>
              <a:spcBef>
                <a:spcPts val="1800"/>
              </a:spcBef>
            </a:pPr>
            <a:r>
              <a:rPr sz="2800" b="1">
                <a:solidFill>
                  <a:srgbClr val="FFFFFF"/>
                </a:solidFill>
              </a:rPr>
              <a:t>Client Relationship Management (CRM)</a:t>
            </a:r>
          </a:p>
          <a:p>
            <a:r>
              <a:rPr sz="1500">
                <a:solidFill>
                  <a:srgbClr val="CBCFD6"/>
                </a:solidFill>
              </a:rPr>
              <a:t>Back-Office Platform — What It Includes &amp; Why We Are Building It</a:t>
            </a:r>
          </a:p>
        </p:txBody>
      </p:sp>
      <p:sp>
        <p:nvSpPr>
          <p:cNvPr id="4" name="Rectangle 3"/>
          <p:cNvSpPr/>
          <p:nvPr/>
        </p:nvSpPr>
        <p:spPr>
          <a:xfrm>
            <a:off x="868680" y="5074920"/>
            <a:ext cx="2103120" cy="54864"/>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257800"/>
            <a:ext cx="10515600" cy="1097280"/>
          </a:xfrm>
          <a:prstGeom prst="rect">
            <a:avLst/>
          </a:prstGeom>
          <a:noFill/>
        </p:spPr>
        <p:txBody>
          <a:bodyPr wrap="square">
            <a:spAutoFit/>
          </a:bodyPr>
          <a:lstStyle/>
          <a:p>
            <a:r>
              <a:rPr sz="1200">
                <a:solidFill>
                  <a:srgbClr val="CBCFD6"/>
                </a:solidFill>
              </a:rPr>
              <a:t>Prepared for:  27 Markets</a:t>
            </a:r>
          </a:p>
          <a:p>
            <a:r>
              <a:rPr sz="1200">
                <a:solidFill>
                  <a:srgbClr val="CBCFD6"/>
                </a:solidFill>
              </a:rPr>
              <a:t>Prepared by:  Core Care Consultancy</a:t>
            </a:r>
          </a:p>
          <a:p>
            <a:r>
              <a:rPr sz="1200">
                <a:solidFill>
                  <a:srgbClr val="CBCFD6"/>
                </a:solidFill>
              </a:rPr>
              <a:t>Date:  2026-06-22      |      Version 1.0</a:t>
            </a:r>
          </a:p>
        </p:txBody>
      </p:sp>
      <p:pic>
        <p:nvPicPr>
          <p:cNvPr id="6" name="Picture 5" descr="corecare consultancy.png"/>
          <p:cNvPicPr>
            <a:picLocks noChangeAspect="1"/>
          </p:cNvPicPr>
          <p:nvPr/>
        </p:nvPicPr>
        <p:blipFill>
          <a:blip r:embed="rId2"/>
          <a:stretch>
            <a:fillRect/>
          </a:stretch>
        </p:blipFill>
        <p:spPr>
          <a:xfrm>
            <a:off x="9784080" y="502920"/>
            <a:ext cx="1737360" cy="17373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OVERVIEW</a:t>
            </a:r>
          </a:p>
          <a:p>
            <a:r>
              <a:rPr sz="3000" b="1">
                <a:solidFill>
                  <a:srgbClr val="FFFFFF"/>
                </a:solidFill>
              </a:rPr>
              <a:t>What Is the CRM?</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sp>
        <p:nvSpPr>
          <p:cNvPr id="6" name="TextBox 5"/>
          <p:cNvSpPr txBox="1"/>
          <p:nvPr/>
        </p:nvSpPr>
        <p:spPr>
          <a:xfrm>
            <a:off x="868680" y="1417320"/>
            <a:ext cx="10515600" cy="822960"/>
          </a:xfrm>
          <a:prstGeom prst="rect">
            <a:avLst/>
          </a:prstGeom>
          <a:noFill/>
        </p:spPr>
        <p:txBody>
          <a:bodyPr wrap="square">
            <a:spAutoFit/>
          </a:bodyPr>
          <a:lstStyle/>
          <a:p>
            <a:r>
              <a:rPr sz="1500">
                <a:solidFill>
                  <a:srgbClr val="CBCFD6"/>
                </a:solidFill>
              </a:rPr>
              <a:t>The private, secure back-office your team uses to run the business — the other half of the platform clients never see. One place to manage leads, clients, verification, money, support, and partners.</a:t>
            </a:r>
          </a:p>
        </p:txBody>
      </p:sp>
      <p:pic>
        <p:nvPicPr>
          <p:cNvPr id="7" name="Picture 6" descr="dk_modules.png"/>
          <p:cNvPicPr>
            <a:picLocks noChangeAspect="1"/>
          </p:cNvPicPr>
          <p:nvPr/>
        </p:nvPicPr>
        <p:blipFill>
          <a:blip r:embed="rId2"/>
          <a:stretch>
            <a:fillRect/>
          </a:stretch>
        </p:blipFill>
        <p:spPr>
          <a:xfrm>
            <a:off x="2849727" y="2331720"/>
            <a:ext cx="6492240" cy="4156358"/>
          </a:xfrm>
          <a:prstGeom prst="rect">
            <a:avLst/>
          </a:prstGeom>
        </p:spPr>
      </p:pic>
      <p:sp>
        <p:nvSpPr>
          <p:cNvPr id="8" name="TextBox 7"/>
          <p:cNvSpPr txBox="1"/>
          <p:nvPr/>
        </p:nvSpPr>
        <p:spPr>
          <a:xfrm>
            <a:off x="548640" y="6172200"/>
            <a:ext cx="11064240" cy="320040"/>
          </a:xfrm>
          <a:prstGeom prst="rect">
            <a:avLst/>
          </a:prstGeom>
          <a:noFill/>
        </p:spPr>
        <p:txBody>
          <a:bodyPr wrap="none">
            <a:spAutoFit/>
          </a:bodyPr>
          <a:lstStyle/>
          <a:p>
            <a:pPr algn="ctr"/>
            <a:r>
              <a:rPr i="1" sz="1100">
                <a:solidFill>
                  <a:srgbClr val="6B707A"/>
                </a:solidFill>
              </a:rPr>
              <a:t>The CRM modules, organised around the client.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THE BUSINESS CASE</a:t>
            </a:r>
          </a:p>
          <a:p>
            <a:r>
              <a:rPr sz="3000" b="1">
                <a:solidFill>
                  <a:srgbClr val="FFFFFF"/>
                </a:solidFill>
              </a:rPr>
              <a:t>Why We Are Building It</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sp>
        <p:nvSpPr>
          <p:cNvPr id="6" name="TextBox 5"/>
          <p:cNvSpPr txBox="1"/>
          <p:nvPr/>
        </p:nvSpPr>
        <p:spPr>
          <a:xfrm>
            <a:off x="868680" y="1554480"/>
            <a:ext cx="10607040" cy="4572000"/>
          </a:xfrm>
          <a:prstGeom prst="rect">
            <a:avLst/>
          </a:prstGeom>
          <a:noFill/>
        </p:spPr>
        <p:txBody>
          <a:bodyPr wrap="square">
            <a:spAutoFit/>
          </a:bodyPr>
          <a:lstStyle/>
          <a:p>
            <a:pPr>
              <a:spcAft>
                <a:spcPts val="1600"/>
              </a:spcAft>
            </a:pPr>
            <a:r>
              <a:rPr b="1" sz="1700">
                <a:solidFill>
                  <a:srgbClr val="E11D2E"/>
                </a:solidFill>
              </a:rPr>
              <a:t>▸ </a:t>
            </a:r>
            <a:r>
              <a:rPr b="1" sz="1700">
                <a:solidFill>
                  <a:srgbClr val="FFFFFF"/>
                </a:solidFill>
              </a:rPr>
              <a:t>One source of truth — </a:t>
            </a:r>
            <a:r>
              <a:rPr sz="1700">
                <a:solidFill>
                  <a:srgbClr val="CBCFD6"/>
                </a:solidFill>
              </a:rPr>
              <a:t>Every lead, client, document, payment, and conversation in one place — no scattered spreadsheets.</a:t>
            </a:r>
          </a:p>
          <a:p>
            <a:pPr>
              <a:spcAft>
                <a:spcPts val="1600"/>
              </a:spcAft>
            </a:pPr>
            <a:r>
              <a:rPr b="1" sz="1700">
                <a:solidFill>
                  <a:srgbClr val="E11D2E"/>
                </a:solidFill>
              </a:rPr>
              <a:t>▸ </a:t>
            </a:r>
            <a:r>
              <a:rPr b="1" sz="1700">
                <a:solidFill>
                  <a:srgbClr val="FFFFFF"/>
                </a:solidFill>
              </a:rPr>
              <a:t>More conversions, more revenue — </a:t>
            </a:r>
            <a:r>
              <a:rPr sz="1700">
                <a:solidFill>
                  <a:srgbClr val="CBCFD6"/>
                </a:solidFill>
              </a:rPr>
              <a:t>Leads are captured, assigned, and followed up systematically, so more visitors become funded clients.</a:t>
            </a:r>
          </a:p>
          <a:p>
            <a:pPr>
              <a:spcAft>
                <a:spcPts val="1600"/>
              </a:spcAft>
            </a:pPr>
            <a:r>
              <a:rPr b="1" sz="1700">
                <a:solidFill>
                  <a:srgbClr val="E11D2E"/>
                </a:solidFill>
              </a:rPr>
              <a:t>▸ </a:t>
            </a:r>
            <a:r>
              <a:rPr b="1" sz="1700">
                <a:solidFill>
                  <a:srgbClr val="FFFFFF"/>
                </a:solidFill>
              </a:rPr>
              <a:t>Regulatory compliance — </a:t>
            </a:r>
            <a:r>
              <a:rPr sz="1700">
                <a:solidFill>
                  <a:srgbClr val="CBCFD6"/>
                </a:solidFill>
              </a:rPr>
              <a:t>A KYC review queue and a complete audit trail keep the business inspection-ready.</a:t>
            </a:r>
          </a:p>
          <a:p>
            <a:pPr>
              <a:spcAft>
                <a:spcPts val="1600"/>
              </a:spcAft>
            </a:pPr>
            <a:r>
              <a:rPr b="1" sz="1700">
                <a:solidFill>
                  <a:srgbClr val="E11D2E"/>
                </a:solidFill>
              </a:rPr>
              <a:t>▸ </a:t>
            </a:r>
            <a:r>
              <a:rPr b="1" sz="1700">
                <a:solidFill>
                  <a:srgbClr val="FFFFFF"/>
                </a:solidFill>
              </a:rPr>
              <a:t>Financial control &amp; safety — </a:t>
            </a:r>
            <a:r>
              <a:rPr sz="1700">
                <a:solidFill>
                  <a:srgbClr val="CBCFD6"/>
                </a:solidFill>
              </a:rPr>
              <a:t>No money moves without staff review — withdrawals are held and approved by finance.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THE BUSINESS CASE (CONTINUED)</a:t>
            </a:r>
          </a:p>
          <a:p>
            <a:r>
              <a:rPr sz="3000" b="1">
                <a:solidFill>
                  <a:srgbClr val="FFFFFF"/>
                </a:solidFill>
              </a:rPr>
              <a:t>Why We Are Building It</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sp>
        <p:nvSpPr>
          <p:cNvPr id="6" name="TextBox 5"/>
          <p:cNvSpPr txBox="1"/>
          <p:nvPr/>
        </p:nvSpPr>
        <p:spPr>
          <a:xfrm>
            <a:off x="868680" y="1554480"/>
            <a:ext cx="10607040" cy="4572000"/>
          </a:xfrm>
          <a:prstGeom prst="rect">
            <a:avLst/>
          </a:prstGeom>
          <a:noFill/>
        </p:spPr>
        <p:txBody>
          <a:bodyPr wrap="square">
            <a:spAutoFit/>
          </a:bodyPr>
          <a:lstStyle/>
          <a:p>
            <a:pPr>
              <a:spcAft>
                <a:spcPts val="1600"/>
              </a:spcAft>
            </a:pPr>
            <a:r>
              <a:rPr b="1" sz="1700">
                <a:solidFill>
                  <a:srgbClr val="E11D2E"/>
                </a:solidFill>
              </a:rPr>
              <a:t>▸ </a:t>
            </a:r>
            <a:r>
              <a:rPr b="1" sz="1700">
                <a:solidFill>
                  <a:srgbClr val="FFFFFF"/>
                </a:solidFill>
              </a:rPr>
              <a:t>Operational visibility — </a:t>
            </a:r>
            <a:r>
              <a:rPr sz="1700">
                <a:solidFill>
                  <a:srgbClr val="CBCFD6"/>
                </a:solidFill>
              </a:rPr>
              <a:t>Live dashboards show deposits, withdrawals, pending work, and team performance at a glance.</a:t>
            </a:r>
          </a:p>
          <a:p>
            <a:pPr>
              <a:spcAft>
                <a:spcPts val="1600"/>
              </a:spcAft>
            </a:pPr>
            <a:r>
              <a:rPr b="1" sz="1700">
                <a:solidFill>
                  <a:srgbClr val="E11D2E"/>
                </a:solidFill>
              </a:rPr>
              <a:t>▸ </a:t>
            </a:r>
            <a:r>
              <a:rPr b="1" sz="1700">
                <a:solidFill>
                  <a:srgbClr val="FFFFFF"/>
                </a:solidFill>
              </a:rPr>
              <a:t>Better client service — </a:t>
            </a:r>
            <a:r>
              <a:rPr sz="1700">
                <a:solidFill>
                  <a:srgbClr val="CBCFD6"/>
                </a:solidFill>
              </a:rPr>
              <a:t>Staff see a client’s full history instantly, resolving requests faster and more personally.</a:t>
            </a:r>
          </a:p>
          <a:p>
            <a:pPr>
              <a:spcAft>
                <a:spcPts val="1600"/>
              </a:spcAft>
            </a:pPr>
            <a:r>
              <a:rPr b="1" sz="1700">
                <a:solidFill>
                  <a:srgbClr val="E11D2E"/>
                </a:solidFill>
              </a:rPr>
              <a:t>▸ </a:t>
            </a:r>
            <a:r>
              <a:rPr b="1" sz="1700">
                <a:solidFill>
                  <a:srgbClr val="FFFFFF"/>
                </a:solidFill>
              </a:rPr>
              <a:t>Accountability &amp; security — </a:t>
            </a:r>
            <a:r>
              <a:rPr sz="1700">
                <a:solidFill>
                  <a:srgbClr val="CBCFD6"/>
                </a:solidFill>
              </a:rPr>
              <a:t>Role-based access (Admin / Agent) plus an audit log — every action is recorded.</a:t>
            </a:r>
          </a:p>
          <a:p>
            <a:pPr>
              <a:spcAft>
                <a:spcPts val="1600"/>
              </a:spcAft>
            </a:pPr>
            <a:r>
              <a:rPr b="1" sz="1700">
                <a:solidFill>
                  <a:srgbClr val="E11D2E"/>
                </a:solidFill>
              </a:rPr>
              <a:t>▸ </a:t>
            </a:r>
            <a:r>
              <a:rPr b="1" sz="1700">
                <a:solidFill>
                  <a:srgbClr val="FFFFFF"/>
                </a:solidFill>
              </a:rPr>
              <a:t>Built to scale — </a:t>
            </a:r>
            <a:r>
              <a:rPr sz="1700">
                <a:solidFill>
                  <a:srgbClr val="CBCFD6"/>
                </a:solidFill>
              </a:rPr>
              <a:t>From hundreds to thousands of clients on the same system; manual methods would break.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MODULES</a:t>
            </a:r>
          </a:p>
          <a:p>
            <a:r>
              <a:rPr sz="3000" b="1">
                <a:solidFill>
                  <a:srgbClr val="FFFFFF"/>
                </a:solidFill>
              </a:rPr>
              <a:t>What the CRM Includes</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graphicFrame>
        <p:nvGraphicFramePr>
          <p:cNvPr id="6" name="Table 5"/>
          <p:cNvGraphicFramePr>
            <a:graphicFrameLocks noGrp="1"/>
          </p:cNvGraphicFramePr>
          <p:nvPr/>
        </p:nvGraphicFramePr>
        <p:xfrm>
          <a:off x="868680" y="1463040"/>
          <a:ext cx="10469880" cy="5029200"/>
        </p:xfrm>
        <a:graphic>
          <a:graphicData uri="http://schemas.openxmlformats.org/drawingml/2006/table">
            <a:tbl>
              <a:tblPr>
                <a:tableStyleId>{5C22544A-7EE6-4342-B048-85BDC9FD1C3A}</a:tableStyleId>
              </a:tblPr>
              <a:tblGrid>
                <a:gridCol w="2377440"/>
                <a:gridCol w="8092440"/>
              </a:tblGrid>
              <a:tr h="457200">
                <a:tc>
                  <a:txBody>
                    <a:bodyPr wrap="square"/>
                    <a:lstStyle/>
                    <a:p>
                      <a:pPr algn="l"/>
                      <a:r>
                        <a:rPr sz="1200" b="1">
                          <a:solidFill>
                            <a:srgbClr val="FFFFFF"/>
                          </a:solidFill>
                        </a:rPr>
                        <a:t>Module</a:t>
                      </a:r>
                    </a:p>
                  </a:txBody>
                  <a:tcPr marL="91440" marR="91440" marT="27432" marB="27432" anchor="ctr">
                    <a:solidFill>
                      <a:srgbClr val="E11D2E"/>
                    </a:solidFill>
                  </a:tcPr>
                </a:tc>
                <a:tc>
                  <a:txBody>
                    <a:bodyPr wrap="square"/>
                    <a:lstStyle/>
                    <a:p>
                      <a:pPr algn="l"/>
                      <a:r>
                        <a:rPr sz="1200" b="1">
                          <a:solidFill>
                            <a:srgbClr val="FFFFFF"/>
                          </a:solidFill>
                        </a:rPr>
                        <a:t>What your team can do</a:t>
                      </a:r>
                    </a:p>
                  </a:txBody>
                  <a:tcPr marL="91440" marR="91440" marT="27432" marB="27432" anchor="ctr">
                    <a:solidFill>
                      <a:srgbClr val="E11D2E"/>
                    </a:solidFill>
                  </a:tcPr>
                </a:tc>
              </a:tr>
              <a:tr h="457200">
                <a:tc>
                  <a:txBody>
                    <a:bodyPr wrap="square"/>
                    <a:lstStyle/>
                    <a:p>
                      <a:pPr algn="l"/>
                      <a:r>
                        <a:rPr sz="1100" b="0">
                          <a:solidFill>
                            <a:srgbClr val="CBCFD6"/>
                          </a:solidFill>
                        </a:rPr>
                        <a:t>Dashboard</a:t>
                      </a:r>
                    </a:p>
                  </a:txBody>
                  <a:tcPr marL="91440" marR="91440" marT="27432" marB="27432" anchor="ctr">
                    <a:solidFill>
                      <a:srgbClr val="14171D"/>
                    </a:solidFill>
                  </a:tcPr>
                </a:tc>
                <a:tc>
                  <a:txBody>
                    <a:bodyPr wrap="square"/>
                    <a:lstStyle/>
                    <a:p>
                      <a:pPr algn="l"/>
                      <a:r>
                        <a:rPr sz="1100" b="0">
                          <a:solidFill>
                            <a:srgbClr val="CBCFD6"/>
                          </a:solidFill>
                        </a:rPr>
                        <a:t>Key numbers and pending work — new clients, KYC to review, withdrawals to approve, open tickets.</a:t>
                      </a:r>
                    </a:p>
                  </a:txBody>
                  <a:tcPr marL="91440" marR="91440" marT="27432" marB="27432" anchor="ctr">
                    <a:solidFill>
                      <a:srgbClr val="14171D"/>
                    </a:solidFill>
                  </a:tcPr>
                </a:tc>
              </a:tr>
              <a:tr h="457200">
                <a:tc>
                  <a:txBody>
                    <a:bodyPr wrap="square"/>
                    <a:lstStyle/>
                    <a:p>
                      <a:pPr algn="l"/>
                      <a:r>
                        <a:rPr sz="1100" b="0">
                          <a:solidFill>
                            <a:srgbClr val="CBCFD6"/>
                          </a:solidFill>
                        </a:rPr>
                        <a:t>Clients (360 View)</a:t>
                      </a:r>
                    </a:p>
                  </a:txBody>
                  <a:tcPr marL="91440" marR="91440" marT="27432" marB="27432" anchor="ctr">
                    <a:solidFill>
                      <a:srgbClr val="101217"/>
                    </a:solidFill>
                  </a:tcPr>
                </a:tc>
                <a:tc>
                  <a:txBody>
                    <a:bodyPr wrap="square"/>
                    <a:lstStyle/>
                    <a:p>
                      <a:pPr algn="l"/>
                      <a:r>
                        <a:rPr sz="1100" b="0">
                          <a:solidFill>
                            <a:srgbClr val="CBCFD6"/>
                          </a:solidFill>
                        </a:rPr>
                        <a:t>Full profile, accounts, balances, KYC status, transactions, notes, and activity history.</a:t>
                      </a:r>
                    </a:p>
                  </a:txBody>
                  <a:tcPr marL="91440" marR="91440" marT="27432" marB="27432" anchor="ctr">
                    <a:solidFill>
                      <a:srgbClr val="101217"/>
                    </a:solidFill>
                  </a:tcPr>
                </a:tc>
              </a:tr>
              <a:tr h="457200">
                <a:tc>
                  <a:txBody>
                    <a:bodyPr wrap="square"/>
                    <a:lstStyle/>
                    <a:p>
                      <a:pPr algn="l"/>
                      <a:r>
                        <a:rPr sz="1100" b="0">
                          <a:solidFill>
                            <a:srgbClr val="CBCFD6"/>
                          </a:solidFill>
                        </a:rPr>
                        <a:t>Leads</a:t>
                      </a:r>
                    </a:p>
                  </a:txBody>
                  <a:tcPr marL="91440" marR="91440" marT="27432" marB="27432" anchor="ctr">
                    <a:solidFill>
                      <a:srgbClr val="14171D"/>
                    </a:solidFill>
                  </a:tcPr>
                </a:tc>
                <a:tc>
                  <a:txBody>
                    <a:bodyPr wrap="square"/>
                    <a:lstStyle/>
                    <a:p>
                      <a:pPr algn="l"/>
                      <a:r>
                        <a:rPr sz="1100" b="0">
                          <a:solidFill>
                            <a:srgbClr val="CBCFD6"/>
                          </a:solidFill>
                        </a:rPr>
                        <a:t>A visual pipeline: capture, assign to agents, and track follow-ups to conversion.</a:t>
                      </a:r>
                    </a:p>
                  </a:txBody>
                  <a:tcPr marL="91440" marR="91440" marT="27432" marB="27432" anchor="ctr">
                    <a:solidFill>
                      <a:srgbClr val="14171D"/>
                    </a:solidFill>
                  </a:tcPr>
                </a:tc>
              </a:tr>
              <a:tr h="457200">
                <a:tc>
                  <a:txBody>
                    <a:bodyPr wrap="square"/>
                    <a:lstStyle/>
                    <a:p>
                      <a:pPr algn="l"/>
                      <a:r>
                        <a:rPr sz="1100" b="0">
                          <a:solidFill>
                            <a:srgbClr val="CBCFD6"/>
                          </a:solidFill>
                        </a:rPr>
                        <a:t>KYC / Compliance</a:t>
                      </a:r>
                    </a:p>
                  </a:txBody>
                  <a:tcPr marL="91440" marR="91440" marT="27432" marB="27432" anchor="ctr">
                    <a:solidFill>
                      <a:srgbClr val="101217"/>
                    </a:solidFill>
                  </a:tcPr>
                </a:tc>
                <a:tc>
                  <a:txBody>
                    <a:bodyPr wrap="square"/>
                    <a:lstStyle/>
                    <a:p>
                      <a:pPr algn="l"/>
                      <a:r>
                        <a:rPr sz="1100" b="0">
                          <a:solidFill>
                            <a:srgbClr val="CBCFD6"/>
                          </a:solidFill>
                        </a:rPr>
                        <a:t>Review identity documents in a queue and approve or reject them.</a:t>
                      </a:r>
                    </a:p>
                  </a:txBody>
                  <a:tcPr marL="91440" marR="91440" marT="27432" marB="27432" anchor="ctr">
                    <a:solidFill>
                      <a:srgbClr val="101217"/>
                    </a:solidFill>
                  </a:tcPr>
                </a:tc>
              </a:tr>
              <a:tr h="457200">
                <a:tc>
                  <a:txBody>
                    <a:bodyPr wrap="square"/>
                    <a:lstStyle/>
                    <a:p>
                      <a:pPr algn="l"/>
                      <a:r>
                        <a:rPr sz="1100" b="0">
                          <a:solidFill>
                            <a:srgbClr val="CBCFD6"/>
                          </a:solidFill>
                        </a:rPr>
                        <a:t>Finance</a:t>
                      </a:r>
                    </a:p>
                  </a:txBody>
                  <a:tcPr marL="91440" marR="91440" marT="27432" marB="27432" anchor="ctr">
                    <a:solidFill>
                      <a:srgbClr val="14171D"/>
                    </a:solidFill>
                  </a:tcPr>
                </a:tc>
                <a:tc>
                  <a:txBody>
                    <a:bodyPr wrap="square"/>
                    <a:lstStyle/>
                    <a:p>
                      <a:pPr algn="l"/>
                      <a:r>
                        <a:rPr sz="1100" b="0">
                          <a:solidFill>
                            <a:srgbClr val="CBCFD6"/>
                          </a:solidFill>
                        </a:rPr>
                        <a:t>See deposits and approve or reject withdrawals; controlled manual adjustments (Admin).</a:t>
                      </a:r>
                    </a:p>
                  </a:txBody>
                  <a:tcPr marL="91440" marR="91440" marT="27432" marB="27432" anchor="ctr">
                    <a:solidFill>
                      <a:srgbClr val="14171D"/>
                    </a:solidFill>
                  </a:tcPr>
                </a:tc>
              </a:tr>
              <a:tr h="457200">
                <a:tc>
                  <a:txBody>
                    <a:bodyPr wrap="square"/>
                    <a:lstStyle/>
                    <a:p>
                      <a:pPr algn="l"/>
                      <a:r>
                        <a:rPr sz="1100" b="0">
                          <a:solidFill>
                            <a:srgbClr val="CBCFD6"/>
                          </a:solidFill>
                        </a:rPr>
                        <a:t>Accounts</a:t>
                      </a:r>
                    </a:p>
                  </a:txBody>
                  <a:tcPr marL="91440" marR="91440" marT="27432" marB="27432" anchor="ctr">
                    <a:solidFill>
                      <a:srgbClr val="101217"/>
                    </a:solidFill>
                  </a:tcPr>
                </a:tc>
                <a:tc>
                  <a:txBody>
                    <a:bodyPr wrap="square"/>
                    <a:lstStyle/>
                    <a:p>
                      <a:pPr algn="l"/>
                      <a:r>
                        <a:rPr sz="1100" b="0">
                          <a:solidFill>
                            <a:srgbClr val="CBCFD6"/>
                          </a:solidFill>
                        </a:rPr>
                        <a:t>View trading accounts; suspend, activate, or change leverage.</a:t>
                      </a:r>
                    </a:p>
                  </a:txBody>
                  <a:tcPr marL="91440" marR="91440" marT="27432" marB="27432" anchor="ctr">
                    <a:solidFill>
                      <a:srgbClr val="101217"/>
                    </a:solidFill>
                  </a:tcPr>
                </a:tc>
              </a:tr>
              <a:tr h="457200">
                <a:tc>
                  <a:txBody>
                    <a:bodyPr wrap="square"/>
                    <a:lstStyle/>
                    <a:p>
                      <a:pPr algn="l"/>
                      <a:r>
                        <a:rPr sz="1100" b="0">
                          <a:solidFill>
                            <a:srgbClr val="CBCFD6"/>
                          </a:solidFill>
                        </a:rPr>
                        <a:t>Support</a:t>
                      </a:r>
                    </a:p>
                  </a:txBody>
                  <a:tcPr marL="91440" marR="91440" marT="27432" marB="27432" anchor="ctr">
                    <a:solidFill>
                      <a:srgbClr val="14171D"/>
                    </a:solidFill>
                  </a:tcPr>
                </a:tc>
                <a:tc>
                  <a:txBody>
                    <a:bodyPr wrap="square"/>
                    <a:lstStyle/>
                    <a:p>
                      <a:pPr algn="l"/>
                      <a:r>
                        <a:rPr sz="1100" b="0">
                          <a:solidFill>
                            <a:srgbClr val="CBCFD6"/>
                          </a:solidFill>
                        </a:rPr>
                        <a:t>A shared ticket inbox — assign, reply, and keep internal notes.</a:t>
                      </a:r>
                    </a:p>
                  </a:txBody>
                  <a:tcPr marL="91440" marR="91440" marT="27432" marB="27432" anchor="ctr">
                    <a:solidFill>
                      <a:srgbClr val="14171D"/>
                    </a:solidFill>
                  </a:tcPr>
                </a:tc>
              </a:tr>
              <a:tr h="457200">
                <a:tc>
                  <a:txBody>
                    <a:bodyPr wrap="square"/>
                    <a:lstStyle/>
                    <a:p>
                      <a:pPr algn="l"/>
                      <a:r>
                        <a:rPr sz="1100" b="0">
                          <a:solidFill>
                            <a:srgbClr val="CBCFD6"/>
                          </a:solidFill>
                        </a:rPr>
                        <a:t>Partners / IB</a:t>
                      </a:r>
                    </a:p>
                  </a:txBody>
                  <a:tcPr marL="91440" marR="91440" marT="27432" marB="27432" anchor="ctr">
                    <a:solidFill>
                      <a:srgbClr val="101217"/>
                    </a:solidFill>
                  </a:tcPr>
                </a:tc>
                <a:tc>
                  <a:txBody>
                    <a:bodyPr wrap="square"/>
                    <a:lstStyle/>
                    <a:p>
                      <a:pPr algn="l"/>
                      <a:r>
                        <a:rPr sz="1100" b="0">
                          <a:solidFill>
                            <a:srgbClr val="CBCFD6"/>
                          </a:solidFill>
                        </a:rPr>
                        <a:t>Partners and the clients they referred, with rebate tracking.</a:t>
                      </a:r>
                    </a:p>
                  </a:txBody>
                  <a:tcPr marL="91440" marR="91440" marT="27432" marB="27432" anchor="ctr">
                    <a:solidFill>
                      <a:srgbClr val="101217"/>
                    </a:solidFill>
                  </a:tcPr>
                </a:tc>
              </a:tr>
              <a:tr h="457200">
                <a:tc>
                  <a:txBody>
                    <a:bodyPr wrap="square"/>
                    <a:lstStyle/>
                    <a:p>
                      <a:pPr algn="l"/>
                      <a:r>
                        <a:rPr sz="1100" b="0">
                          <a:solidFill>
                            <a:srgbClr val="CBCFD6"/>
                          </a:solidFill>
                        </a:rPr>
                        <a:t>Reports</a:t>
                      </a:r>
                    </a:p>
                  </a:txBody>
                  <a:tcPr marL="91440" marR="91440" marT="27432" marB="27432" anchor="ctr">
                    <a:solidFill>
                      <a:srgbClr val="14171D"/>
                    </a:solidFill>
                  </a:tcPr>
                </a:tc>
                <a:tc>
                  <a:txBody>
                    <a:bodyPr wrap="square"/>
                    <a:lstStyle/>
                    <a:p>
                      <a:pPr algn="l"/>
                      <a:r>
                        <a:rPr sz="1100" b="0">
                          <a:solidFill>
                            <a:srgbClr val="CBCFD6"/>
                          </a:solidFill>
                        </a:rPr>
                        <a:t>Deposits, withdrawals, net flow, conversion, and agent performance.</a:t>
                      </a:r>
                    </a:p>
                  </a:txBody>
                  <a:tcPr marL="91440" marR="91440" marT="27432" marB="27432" anchor="ctr">
                    <a:solidFill>
                      <a:srgbClr val="14171D"/>
                    </a:solidFill>
                  </a:tcPr>
                </a:tc>
              </a:tr>
              <a:tr h="457200">
                <a:tc>
                  <a:txBody>
                    <a:bodyPr wrap="square"/>
                    <a:lstStyle/>
                    <a:p>
                      <a:pPr algn="l"/>
                      <a:r>
                        <a:rPr sz="1100" b="0">
                          <a:solidFill>
                            <a:srgbClr val="CBCFD6"/>
                          </a:solidFill>
                        </a:rPr>
                        <a:t>Staff &amp; Settings</a:t>
                      </a:r>
                    </a:p>
                  </a:txBody>
                  <a:tcPr marL="91440" marR="91440" marT="27432" marB="27432" anchor="ctr">
                    <a:solidFill>
                      <a:srgbClr val="101217"/>
                    </a:solidFill>
                  </a:tcPr>
                </a:tc>
                <a:tc>
                  <a:txBody>
                    <a:bodyPr wrap="square"/>
                    <a:lstStyle/>
                    <a:p>
                      <a:pPr algn="l"/>
                      <a:r>
                        <a:rPr sz="1100" b="0">
                          <a:solidFill>
                            <a:srgbClr val="CBCFD6"/>
                          </a:solidFill>
                        </a:rPr>
                        <a:t>Manage staff, assign Admin/Agent access, review the audit log (Admin).</a:t>
                      </a:r>
                    </a:p>
                  </a:txBody>
                  <a:tcPr marL="91440" marR="91440" marT="27432" marB="27432" anchor="ctr">
                    <a:solidFill>
                      <a:srgbClr val="10121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GROWTH</a:t>
            </a:r>
          </a:p>
          <a:p>
            <a:r>
              <a:rPr sz="3000" b="1">
                <a:solidFill>
                  <a:srgbClr val="FFFFFF"/>
                </a:solidFill>
              </a:rPr>
              <a:t>Lead &amp; Sales Pipeline</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sp>
        <p:nvSpPr>
          <p:cNvPr id="6" name="TextBox 5"/>
          <p:cNvSpPr txBox="1"/>
          <p:nvPr/>
        </p:nvSpPr>
        <p:spPr>
          <a:xfrm>
            <a:off x="868680" y="1417320"/>
            <a:ext cx="10515600" cy="822960"/>
          </a:xfrm>
          <a:prstGeom prst="rect">
            <a:avLst/>
          </a:prstGeom>
          <a:noFill/>
        </p:spPr>
        <p:txBody>
          <a:bodyPr wrap="square">
            <a:spAutoFit/>
          </a:bodyPr>
          <a:lstStyle/>
          <a:p>
            <a:r>
              <a:rPr sz="1500">
                <a:solidFill>
                  <a:srgbClr val="CBCFD6"/>
                </a:solidFill>
              </a:rPr>
              <a:t>Leads are captured automatically from the website and demo requests, assigned to an agent, and tracked through clear stages until they fund and trade — so no opportunity is missed.</a:t>
            </a:r>
          </a:p>
        </p:txBody>
      </p:sp>
      <p:pic>
        <p:nvPicPr>
          <p:cNvPr id="7" name="Picture 6" descr="dk_pipeline.png"/>
          <p:cNvPicPr>
            <a:picLocks noChangeAspect="1"/>
          </p:cNvPicPr>
          <p:nvPr/>
        </p:nvPicPr>
        <p:blipFill>
          <a:blip r:embed="rId2"/>
          <a:stretch>
            <a:fillRect/>
          </a:stretch>
        </p:blipFill>
        <p:spPr>
          <a:xfrm>
            <a:off x="609447" y="3108960"/>
            <a:ext cx="10972800" cy="1321050"/>
          </a:xfrm>
          <a:prstGeom prst="rect">
            <a:avLst/>
          </a:prstGeom>
        </p:spPr>
      </p:pic>
      <p:sp>
        <p:nvSpPr>
          <p:cNvPr id="8" name="TextBox 7"/>
          <p:cNvSpPr txBox="1"/>
          <p:nvPr/>
        </p:nvSpPr>
        <p:spPr>
          <a:xfrm>
            <a:off x="548640" y="5120640"/>
            <a:ext cx="11064240" cy="320040"/>
          </a:xfrm>
          <a:prstGeom prst="rect">
            <a:avLst/>
          </a:prstGeom>
          <a:noFill/>
        </p:spPr>
        <p:txBody>
          <a:bodyPr wrap="none">
            <a:spAutoFit/>
          </a:bodyPr>
          <a:lstStyle/>
          <a:p>
            <a:pPr algn="ctr"/>
            <a:r>
              <a:rPr i="1" sz="1100">
                <a:solidFill>
                  <a:srgbClr val="6B707A"/>
                </a:solidFill>
              </a:rPr>
              <a:t>From new lead to funded, active client.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EVERYTHING ON ONE SCREEN</a:t>
            </a:r>
          </a:p>
          <a:p>
            <a:r>
              <a:rPr sz="3000" b="1">
                <a:solidFill>
                  <a:srgbClr val="FFFFFF"/>
                </a:solidFill>
              </a:rPr>
              <a:t>The Client 360° View</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sp>
        <p:nvSpPr>
          <p:cNvPr id="6" name="TextBox 5"/>
          <p:cNvSpPr txBox="1"/>
          <p:nvPr/>
        </p:nvSpPr>
        <p:spPr>
          <a:xfrm>
            <a:off x="868680" y="1645920"/>
            <a:ext cx="10607040" cy="4572000"/>
          </a:xfrm>
          <a:prstGeom prst="rect">
            <a:avLst/>
          </a:prstGeom>
          <a:noFill/>
        </p:spPr>
        <p:txBody>
          <a:bodyPr wrap="square">
            <a:spAutoFit/>
          </a:bodyPr>
          <a:lstStyle/>
          <a:p>
            <a:pPr>
              <a:spcAft>
                <a:spcPts val="1600"/>
              </a:spcAft>
            </a:pPr>
            <a:r>
              <a:rPr b="1" sz="1800">
                <a:solidFill>
                  <a:srgbClr val="E11D2E"/>
                </a:solidFill>
              </a:rPr>
              <a:t>▸ </a:t>
            </a:r>
            <a:r>
              <a:rPr sz="1800">
                <a:solidFill>
                  <a:srgbClr val="CBCFD6"/>
                </a:solidFill>
              </a:rPr>
              <a:t>Personal profile and contact details.</a:t>
            </a:r>
          </a:p>
          <a:p>
            <a:pPr>
              <a:spcAft>
                <a:spcPts val="1600"/>
              </a:spcAft>
            </a:pPr>
            <a:r>
              <a:rPr b="1" sz="1800">
                <a:solidFill>
                  <a:srgbClr val="E11D2E"/>
                </a:solidFill>
              </a:rPr>
              <a:t>▸ </a:t>
            </a:r>
            <a:r>
              <a:rPr sz="1800">
                <a:solidFill>
                  <a:srgbClr val="CBCFD6"/>
                </a:solidFill>
              </a:rPr>
              <a:t>All trading accounts with live balances.</a:t>
            </a:r>
          </a:p>
          <a:p>
            <a:pPr>
              <a:spcAft>
                <a:spcPts val="1600"/>
              </a:spcAft>
            </a:pPr>
            <a:r>
              <a:rPr b="1" sz="1800">
                <a:solidFill>
                  <a:srgbClr val="E11D2E"/>
                </a:solidFill>
              </a:rPr>
              <a:t>▸ </a:t>
            </a:r>
            <a:r>
              <a:rPr sz="1800">
                <a:solidFill>
                  <a:srgbClr val="CBCFD6"/>
                </a:solidFill>
              </a:rPr>
              <a:t>KYC verification status and uploaded documents.</a:t>
            </a:r>
          </a:p>
          <a:p>
            <a:pPr>
              <a:spcAft>
                <a:spcPts val="1600"/>
              </a:spcAft>
            </a:pPr>
            <a:r>
              <a:rPr b="1" sz="1800">
                <a:solidFill>
                  <a:srgbClr val="E11D2E"/>
                </a:solidFill>
              </a:rPr>
              <a:t>▸ </a:t>
            </a:r>
            <a:r>
              <a:rPr sz="1800">
                <a:solidFill>
                  <a:srgbClr val="CBCFD6"/>
                </a:solidFill>
              </a:rPr>
              <a:t>Full deposit, withdrawal, and transfer history.</a:t>
            </a:r>
          </a:p>
          <a:p>
            <a:pPr>
              <a:spcAft>
                <a:spcPts val="1600"/>
              </a:spcAft>
            </a:pPr>
            <a:r>
              <a:rPr b="1" sz="1800">
                <a:solidFill>
                  <a:srgbClr val="E11D2E"/>
                </a:solidFill>
              </a:rPr>
              <a:t>▸ </a:t>
            </a:r>
            <a:r>
              <a:rPr sz="1800">
                <a:solidFill>
                  <a:srgbClr val="CBCFD6"/>
                </a:solidFill>
              </a:rPr>
              <a:t>Internal staff notes and the complete activity timeline.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SAFETY &amp; COMPLIANCE</a:t>
            </a:r>
          </a:p>
          <a:p>
            <a:r>
              <a:rPr sz="3000" b="1">
                <a:solidFill>
                  <a:srgbClr val="FFFFFF"/>
                </a:solidFill>
              </a:rPr>
              <a:t>KYC &amp; Compliance Review</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pic>
        <p:nvPicPr>
          <p:cNvPr id="6" name="Picture 5" descr="dk_kyc.png"/>
          <p:cNvPicPr>
            <a:picLocks noChangeAspect="1"/>
          </p:cNvPicPr>
          <p:nvPr/>
        </p:nvPicPr>
        <p:blipFill>
          <a:blip r:embed="rId2"/>
          <a:stretch>
            <a:fillRect/>
          </a:stretch>
        </p:blipFill>
        <p:spPr>
          <a:xfrm>
            <a:off x="792327" y="1828800"/>
            <a:ext cx="10607040" cy="3169177"/>
          </a:xfrm>
          <a:prstGeom prst="rect">
            <a:avLst/>
          </a:prstGeom>
        </p:spPr>
      </p:pic>
      <p:sp>
        <p:nvSpPr>
          <p:cNvPr id="7" name="TextBox 6"/>
          <p:cNvSpPr txBox="1"/>
          <p:nvPr/>
        </p:nvSpPr>
        <p:spPr>
          <a:xfrm>
            <a:off x="548640" y="5212080"/>
            <a:ext cx="11064240" cy="320040"/>
          </a:xfrm>
          <a:prstGeom prst="rect">
            <a:avLst/>
          </a:prstGeom>
          <a:noFill/>
        </p:spPr>
        <p:txBody>
          <a:bodyPr wrap="none">
            <a:spAutoFit/>
          </a:bodyPr>
          <a:lstStyle/>
          <a:p>
            <a:pPr algn="ctr"/>
            <a:r>
              <a:rPr i="1" sz="1100">
                <a:solidFill>
                  <a:srgbClr val="6B707A"/>
                </a:solidFill>
              </a:rPr>
              <a:t>Submissions land in a queue; compliance approves or rejects. Withdrawals stay locked until verified.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MONEY SAFETY</a:t>
            </a:r>
          </a:p>
          <a:p>
            <a:r>
              <a:rPr sz="3000" b="1">
                <a:solidFill>
                  <a:srgbClr val="FFFFFF"/>
                </a:solidFill>
              </a:rPr>
              <a:t>Finance &amp; Withdrawal Approvals</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pic>
        <p:nvPicPr>
          <p:cNvPr id="6" name="Picture 5" descr="dk_withdrawal.png"/>
          <p:cNvPicPr>
            <a:picLocks noChangeAspect="1"/>
          </p:cNvPicPr>
          <p:nvPr/>
        </p:nvPicPr>
        <p:blipFill>
          <a:blip r:embed="rId2"/>
          <a:stretch>
            <a:fillRect/>
          </a:stretch>
        </p:blipFill>
        <p:spPr>
          <a:xfrm>
            <a:off x="792327" y="1828800"/>
            <a:ext cx="10607040" cy="3169177"/>
          </a:xfrm>
          <a:prstGeom prst="rect">
            <a:avLst/>
          </a:prstGeom>
        </p:spPr>
      </p:pic>
      <p:sp>
        <p:nvSpPr>
          <p:cNvPr id="7" name="TextBox 6"/>
          <p:cNvSpPr txBox="1"/>
          <p:nvPr/>
        </p:nvSpPr>
        <p:spPr>
          <a:xfrm>
            <a:off x="548640" y="5212080"/>
            <a:ext cx="11064240" cy="320040"/>
          </a:xfrm>
          <a:prstGeom prst="rect">
            <a:avLst/>
          </a:prstGeom>
          <a:noFill/>
        </p:spPr>
        <p:txBody>
          <a:bodyPr wrap="none">
            <a:spAutoFit/>
          </a:bodyPr>
          <a:lstStyle/>
          <a:p>
            <a:pPr algn="ctr"/>
            <a:r>
              <a:rPr i="1" sz="1100">
                <a:solidFill>
                  <a:srgbClr val="6B707A"/>
                </a:solidFill>
              </a:rPr>
              <a:t>Every withdrawal is checked, held, and approved by finance before any payout.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ACCOUNTABILITY</a:t>
            </a:r>
          </a:p>
          <a:p>
            <a:r>
              <a:rPr sz="3000" b="1">
                <a:solidFill>
                  <a:srgbClr val="FFFFFF"/>
                </a:solidFill>
              </a:rPr>
              <a:t>Staff Roles &amp; Access Control</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pic>
        <p:nvPicPr>
          <p:cNvPr id="6" name="Picture 5" descr="dk_roles.png"/>
          <p:cNvPicPr>
            <a:picLocks noChangeAspect="1"/>
          </p:cNvPicPr>
          <p:nvPr/>
        </p:nvPicPr>
        <p:blipFill>
          <a:blip r:embed="rId2"/>
          <a:stretch>
            <a:fillRect/>
          </a:stretch>
        </p:blipFill>
        <p:spPr>
          <a:xfrm>
            <a:off x="2895447" y="1554480"/>
            <a:ext cx="6400800" cy="3680039"/>
          </a:xfrm>
          <a:prstGeom prst="rect">
            <a:avLst/>
          </a:prstGeom>
        </p:spPr>
      </p:pic>
      <p:sp>
        <p:nvSpPr>
          <p:cNvPr id="7" name="TextBox 6"/>
          <p:cNvSpPr txBox="1"/>
          <p:nvPr/>
        </p:nvSpPr>
        <p:spPr>
          <a:xfrm>
            <a:off x="868680" y="4617720"/>
            <a:ext cx="10607040" cy="4572000"/>
          </a:xfrm>
          <a:prstGeom prst="rect">
            <a:avLst/>
          </a:prstGeom>
          <a:noFill/>
        </p:spPr>
        <p:txBody>
          <a:bodyPr wrap="square">
            <a:spAutoFit/>
          </a:bodyPr>
          <a:lstStyle/>
          <a:p>
            <a:pPr>
              <a:spcAft>
                <a:spcPts val="800"/>
              </a:spcAft>
            </a:pPr>
            <a:r>
              <a:rPr b="1" sz="1300">
                <a:solidFill>
                  <a:srgbClr val="E11D2E"/>
                </a:solidFill>
              </a:rPr>
              <a:t>▸ </a:t>
            </a:r>
            <a:r>
              <a:rPr sz="1300">
                <a:solidFill>
                  <a:srgbClr val="CBCFD6"/>
                </a:solidFill>
              </a:rPr>
              <a:t>Admin: full access — finance approvals, staff/role management, settings, all modules.</a:t>
            </a:r>
          </a:p>
          <a:p>
            <a:pPr>
              <a:spcAft>
                <a:spcPts val="800"/>
              </a:spcAft>
            </a:pPr>
            <a:r>
              <a:rPr b="1" sz="1300">
                <a:solidFill>
                  <a:srgbClr val="E11D2E"/>
                </a:solidFill>
              </a:rPr>
              <a:t>▸ </a:t>
            </a:r>
            <a:r>
              <a:rPr sz="1300">
                <a:solidFill>
                  <a:srgbClr val="CBCFD6"/>
                </a:solidFill>
              </a:rPr>
              <a:t>Agent: clients, leads, support, KYC review — no finance approvals or role changes.</a:t>
            </a:r>
          </a:p>
          <a:p>
            <a:pPr>
              <a:spcAft>
                <a:spcPts val="800"/>
              </a:spcAft>
            </a:pPr>
            <a:r>
              <a:rPr b="1" sz="1300">
                <a:solidFill>
                  <a:srgbClr val="E11D2E"/>
                </a:solidFill>
              </a:rPr>
              <a:t>▸ </a:t>
            </a:r>
            <a:r>
              <a:rPr sz="1300">
                <a:solidFill>
                  <a:srgbClr val="CBCFD6"/>
                </a:solidFill>
              </a:rPr>
              <a:t>Audit log: every state-changing action recorded with who, what, and when.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PHASED DELIVERY</a:t>
            </a:r>
          </a:p>
          <a:p>
            <a:r>
              <a:rPr sz="3000" b="1">
                <a:solidFill>
                  <a:srgbClr val="FFFFFF"/>
                </a:solidFill>
              </a:rPr>
              <a:t>How We Will Build It</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graphicFrame>
        <p:nvGraphicFramePr>
          <p:cNvPr id="6" name="Table 5"/>
          <p:cNvGraphicFramePr>
            <a:graphicFrameLocks noGrp="1"/>
          </p:cNvGraphicFramePr>
          <p:nvPr/>
        </p:nvGraphicFramePr>
        <p:xfrm>
          <a:off x="868680" y="1645920"/>
          <a:ext cx="10469880" cy="3968496"/>
        </p:xfrm>
        <a:graphic>
          <a:graphicData uri="http://schemas.openxmlformats.org/drawingml/2006/table">
            <a:tbl>
              <a:tblPr>
                <a:tableStyleId>{5C22544A-7EE6-4342-B048-85BDC9FD1C3A}</a:tableStyleId>
              </a:tblPr>
              <a:tblGrid>
                <a:gridCol w="1188720"/>
                <a:gridCol w="9281160"/>
              </a:tblGrid>
              <a:tr h="566928">
                <a:tc>
                  <a:txBody>
                    <a:bodyPr wrap="square"/>
                    <a:lstStyle/>
                    <a:p>
                      <a:pPr algn="l"/>
                      <a:r>
                        <a:rPr sz="1400" b="1">
                          <a:solidFill>
                            <a:srgbClr val="FFFFFF"/>
                          </a:solidFill>
                        </a:rPr>
                        <a:t>Phase</a:t>
                      </a:r>
                    </a:p>
                  </a:txBody>
                  <a:tcPr marL="91440" marR="91440" marT="27432" marB="27432" anchor="ctr">
                    <a:solidFill>
                      <a:srgbClr val="E11D2E"/>
                    </a:solidFill>
                  </a:tcPr>
                </a:tc>
                <a:tc>
                  <a:txBody>
                    <a:bodyPr wrap="square"/>
                    <a:lstStyle/>
                    <a:p>
                      <a:pPr algn="l"/>
                      <a:r>
                        <a:rPr sz="1400" b="1">
                          <a:solidFill>
                            <a:srgbClr val="FFFFFF"/>
                          </a:solidFill>
                        </a:rPr>
                        <a:t>Delivered</a:t>
                      </a:r>
                    </a:p>
                  </a:txBody>
                  <a:tcPr marL="91440" marR="91440" marT="27432" marB="27432" anchor="ctr">
                    <a:solidFill>
                      <a:srgbClr val="E11D2E"/>
                    </a:solidFill>
                  </a:tcPr>
                </a:tc>
              </a:tr>
              <a:tr h="566928">
                <a:tc>
                  <a:txBody>
                    <a:bodyPr wrap="square"/>
                    <a:lstStyle/>
                    <a:p>
                      <a:pPr algn="l"/>
                      <a:r>
                        <a:rPr sz="1300" b="0">
                          <a:solidFill>
                            <a:srgbClr val="CBCFD6"/>
                          </a:solidFill>
                        </a:rPr>
                        <a:t>1</a:t>
                      </a:r>
                    </a:p>
                  </a:txBody>
                  <a:tcPr marL="91440" marR="91440" marT="27432" marB="27432" anchor="ctr">
                    <a:solidFill>
                      <a:srgbClr val="14171D"/>
                    </a:solidFill>
                  </a:tcPr>
                </a:tc>
                <a:tc>
                  <a:txBody>
                    <a:bodyPr wrap="square"/>
                    <a:lstStyle/>
                    <a:p>
                      <a:pPr algn="l"/>
                      <a:r>
                        <a:rPr sz="1300" b="0">
                          <a:solidFill>
                            <a:srgbClr val="CBCFD6"/>
                          </a:solidFill>
                        </a:rPr>
                        <a:t>Foundations — staff roles (Admin/Agent), secure access, and the admin shell.</a:t>
                      </a:r>
                    </a:p>
                  </a:txBody>
                  <a:tcPr marL="91440" marR="91440" marT="27432" marB="27432" anchor="ctr">
                    <a:solidFill>
                      <a:srgbClr val="14171D"/>
                    </a:solidFill>
                  </a:tcPr>
                </a:tc>
              </a:tr>
              <a:tr h="566928">
                <a:tc>
                  <a:txBody>
                    <a:bodyPr wrap="square"/>
                    <a:lstStyle/>
                    <a:p>
                      <a:pPr algn="l"/>
                      <a:r>
                        <a:rPr sz="1300" b="0">
                          <a:solidFill>
                            <a:srgbClr val="CBCFD6"/>
                          </a:solidFill>
                        </a:rPr>
                        <a:t>2</a:t>
                      </a:r>
                    </a:p>
                  </a:txBody>
                  <a:tcPr marL="91440" marR="91440" marT="27432" marB="27432" anchor="ctr">
                    <a:solidFill>
                      <a:srgbClr val="101217"/>
                    </a:solidFill>
                  </a:tcPr>
                </a:tc>
                <a:tc>
                  <a:txBody>
                    <a:bodyPr wrap="square"/>
                    <a:lstStyle/>
                    <a:p>
                      <a:pPr algn="l"/>
                      <a:r>
                        <a:rPr sz="1300" b="0">
                          <a:solidFill>
                            <a:srgbClr val="CBCFD6"/>
                          </a:solidFill>
                        </a:rPr>
                        <a:t>Dashboard with live numbers and recent activity.</a:t>
                      </a:r>
                    </a:p>
                  </a:txBody>
                  <a:tcPr marL="91440" marR="91440" marT="27432" marB="27432" anchor="ctr">
                    <a:solidFill>
                      <a:srgbClr val="101217"/>
                    </a:solidFill>
                  </a:tcPr>
                </a:tc>
              </a:tr>
              <a:tr h="566928">
                <a:tc>
                  <a:txBody>
                    <a:bodyPr wrap="square"/>
                    <a:lstStyle/>
                    <a:p>
                      <a:pPr algn="l"/>
                      <a:r>
                        <a:rPr sz="1300" b="0">
                          <a:solidFill>
                            <a:srgbClr val="CBCFD6"/>
                          </a:solidFill>
                        </a:rPr>
                        <a:t>3</a:t>
                      </a:r>
                    </a:p>
                  </a:txBody>
                  <a:tcPr marL="91440" marR="91440" marT="27432" marB="27432" anchor="ctr">
                    <a:solidFill>
                      <a:srgbClr val="14171D"/>
                    </a:solidFill>
                  </a:tcPr>
                </a:tc>
                <a:tc>
                  <a:txBody>
                    <a:bodyPr wrap="square"/>
                    <a:lstStyle/>
                    <a:p>
                      <a:pPr algn="l"/>
                      <a:r>
                        <a:rPr sz="1300" b="0">
                          <a:solidFill>
                            <a:srgbClr val="CBCFD6"/>
                          </a:solidFill>
                        </a:rPr>
                        <a:t>Clients (360 view + notes) and the KYC review queue.</a:t>
                      </a:r>
                    </a:p>
                  </a:txBody>
                  <a:tcPr marL="91440" marR="91440" marT="27432" marB="27432" anchor="ctr">
                    <a:solidFill>
                      <a:srgbClr val="14171D"/>
                    </a:solidFill>
                  </a:tcPr>
                </a:tc>
              </a:tr>
              <a:tr h="566928">
                <a:tc>
                  <a:txBody>
                    <a:bodyPr wrap="square"/>
                    <a:lstStyle/>
                    <a:p>
                      <a:pPr algn="l"/>
                      <a:r>
                        <a:rPr sz="1300" b="0">
                          <a:solidFill>
                            <a:srgbClr val="CBCFD6"/>
                          </a:solidFill>
                        </a:rPr>
                        <a:t>4</a:t>
                      </a:r>
                    </a:p>
                  </a:txBody>
                  <a:tcPr marL="91440" marR="91440" marT="27432" marB="27432" anchor="ctr">
                    <a:solidFill>
                      <a:srgbClr val="101217"/>
                    </a:solidFill>
                  </a:tcPr>
                </a:tc>
                <a:tc>
                  <a:txBody>
                    <a:bodyPr wrap="square"/>
                    <a:lstStyle/>
                    <a:p>
                      <a:pPr algn="l"/>
                      <a:r>
                        <a:rPr sz="1300" b="0">
                          <a:solidFill>
                            <a:srgbClr val="CBCFD6"/>
                          </a:solidFill>
                        </a:rPr>
                        <a:t>Finance (withdrawal approvals) and account administration.</a:t>
                      </a:r>
                    </a:p>
                  </a:txBody>
                  <a:tcPr marL="91440" marR="91440" marT="27432" marB="27432" anchor="ctr">
                    <a:solidFill>
                      <a:srgbClr val="101217"/>
                    </a:solidFill>
                  </a:tcPr>
                </a:tc>
              </a:tr>
              <a:tr h="566928">
                <a:tc>
                  <a:txBody>
                    <a:bodyPr wrap="square"/>
                    <a:lstStyle/>
                    <a:p>
                      <a:pPr algn="l"/>
                      <a:r>
                        <a:rPr sz="1300" b="0">
                          <a:solidFill>
                            <a:srgbClr val="CBCFD6"/>
                          </a:solidFill>
                        </a:rPr>
                        <a:t>5</a:t>
                      </a:r>
                    </a:p>
                  </a:txBody>
                  <a:tcPr marL="91440" marR="91440" marT="27432" marB="27432" anchor="ctr">
                    <a:solidFill>
                      <a:srgbClr val="14171D"/>
                    </a:solidFill>
                  </a:tcPr>
                </a:tc>
                <a:tc>
                  <a:txBody>
                    <a:bodyPr wrap="square"/>
                    <a:lstStyle/>
                    <a:p>
                      <a:pPr algn="l"/>
                      <a:r>
                        <a:rPr sz="1300" b="0">
                          <a:solidFill>
                            <a:srgbClr val="CBCFD6"/>
                          </a:solidFill>
                        </a:rPr>
                        <a:t>Leads pipeline and the support desk.</a:t>
                      </a:r>
                    </a:p>
                  </a:txBody>
                  <a:tcPr marL="91440" marR="91440" marT="27432" marB="27432" anchor="ctr">
                    <a:solidFill>
                      <a:srgbClr val="14171D"/>
                    </a:solidFill>
                  </a:tcPr>
                </a:tc>
              </a:tr>
              <a:tr h="566928">
                <a:tc>
                  <a:txBody>
                    <a:bodyPr wrap="square"/>
                    <a:lstStyle/>
                    <a:p>
                      <a:pPr algn="l"/>
                      <a:r>
                        <a:rPr sz="1300" b="0">
                          <a:solidFill>
                            <a:srgbClr val="CBCFD6"/>
                          </a:solidFill>
                        </a:rPr>
                        <a:t>6</a:t>
                      </a:r>
                    </a:p>
                  </a:txBody>
                  <a:tcPr marL="91440" marR="91440" marT="27432" marB="27432" anchor="ctr">
                    <a:solidFill>
                      <a:srgbClr val="101217"/>
                    </a:solidFill>
                  </a:tcPr>
                </a:tc>
                <a:tc>
                  <a:txBody>
                    <a:bodyPr wrap="square"/>
                    <a:lstStyle/>
                    <a:p>
                      <a:pPr algn="l"/>
                      <a:r>
                        <a:rPr sz="1300" b="0">
                          <a:solidFill>
                            <a:srgbClr val="CBCFD6"/>
                          </a:solidFill>
                        </a:rPr>
                        <a:t>Partners, reports, staff/settings, audit log, and final polish.</a:t>
                      </a:r>
                    </a:p>
                  </a:txBody>
                  <a:tcPr marL="91440" marR="91440" marT="27432" marB="27432" anchor="ctr">
                    <a:solidFill>
                      <a:srgbClr val="101217"/>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PLEASE NOTE</a:t>
            </a:r>
          </a:p>
          <a:p>
            <a:r>
              <a:rPr sz="3000" b="1">
                <a:solidFill>
                  <a:srgbClr val="FFFFFF"/>
                </a:solidFill>
              </a:rPr>
              <a:t>Important Note — Costs &amp; Go-Live</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sp>
        <p:nvSpPr>
          <p:cNvPr id="6" name="TextBox 5"/>
          <p:cNvSpPr txBox="1"/>
          <p:nvPr/>
        </p:nvSpPr>
        <p:spPr>
          <a:xfrm>
            <a:off x="868680" y="1554480"/>
            <a:ext cx="10607040" cy="4572000"/>
          </a:xfrm>
          <a:prstGeom prst="rect">
            <a:avLst/>
          </a:prstGeom>
          <a:noFill/>
        </p:spPr>
        <p:txBody>
          <a:bodyPr wrap="square">
            <a:spAutoFit/>
          </a:bodyPr>
          <a:lstStyle/>
          <a:p>
            <a:pPr>
              <a:spcAft>
                <a:spcPts val="1600"/>
              </a:spcAft>
            </a:pPr>
            <a:r>
              <a:rPr b="1" sz="1600">
                <a:solidFill>
                  <a:srgbClr val="E11D2E"/>
                </a:solidFill>
              </a:rPr>
              <a:t>▸ </a:t>
            </a:r>
            <a:r>
              <a:rPr b="1" sz="1600">
                <a:solidFill>
                  <a:srgbClr val="FFFFFF"/>
                </a:solidFill>
              </a:rPr>
              <a:t>Current stage — </a:t>
            </a:r>
            <a:r>
              <a:rPr sz="1600">
                <a:solidFill>
                  <a:srgbClr val="CBCFD6"/>
                </a:solidFill>
              </a:rPr>
              <a:t>This build runs on simulated data for demonstration. Live money movement is not active yet.</a:t>
            </a:r>
          </a:p>
          <a:p>
            <a:pPr>
              <a:spcAft>
                <a:spcPts val="1600"/>
              </a:spcAft>
            </a:pPr>
            <a:r>
              <a:rPr b="1" sz="1600">
                <a:solidFill>
                  <a:srgbClr val="E11D2E"/>
                </a:solidFill>
              </a:rPr>
              <a:t>▸ </a:t>
            </a:r>
            <a:r>
              <a:rPr b="1" sz="1600">
                <a:solidFill>
                  <a:srgbClr val="FFFFFF"/>
                </a:solidFill>
              </a:rPr>
              <a:t>Going live — </a:t>
            </a:r>
            <a:r>
              <a:rPr sz="1600">
                <a:solidFill>
                  <a:srgbClr val="CBCFD6"/>
                </a:solidFill>
              </a:rPr>
              <a:t>Full launch once the trading platform, payment gateways, identity-verification provider, and licensing are connected.</a:t>
            </a:r>
          </a:p>
          <a:p>
            <a:pPr>
              <a:spcAft>
                <a:spcPts val="1600"/>
              </a:spcAft>
            </a:pPr>
            <a:r>
              <a:rPr b="1" sz="1600">
                <a:solidFill>
                  <a:srgbClr val="E11D2E"/>
                </a:solidFill>
              </a:rPr>
              <a:t>▸ </a:t>
            </a:r>
            <a:r>
              <a:rPr b="1" sz="1600">
                <a:solidFill>
                  <a:srgbClr val="FFFFFF"/>
                </a:solidFill>
              </a:rPr>
              <a:t>Third-party costs — </a:t>
            </a:r>
            <a:r>
              <a:rPr sz="1600">
                <a:solidFill>
                  <a:srgbClr val="CBCFD6"/>
                </a:solidFill>
              </a:rPr>
              <a:t>Identity checks, email/SMS, and payment reconciliation rely on paid third-party services, billed by each provider.</a:t>
            </a:r>
          </a:p>
          <a:p>
            <a:pPr>
              <a:spcAft>
                <a:spcPts val="1600"/>
              </a:spcAft>
            </a:pPr>
            <a:r>
              <a:rPr b="1" sz="1600">
                <a:solidFill>
                  <a:srgbClr val="E11D2E"/>
                </a:solidFill>
              </a:rPr>
              <a:t>▸ </a:t>
            </a:r>
            <a:r>
              <a:rPr b="1" sz="1600">
                <a:solidFill>
                  <a:srgbClr val="FFFFFF"/>
                </a:solidFill>
              </a:rPr>
              <a:t>Future phases — </a:t>
            </a:r>
            <a:r>
              <a:rPr sz="1600">
                <a:solidFill>
                  <a:srgbClr val="CBCFD6"/>
                </a:solidFill>
              </a:rPr>
              <a:t>Marketing automation, a full IB commission engine, and granular roles are planned later and quoted separately.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118872" cy="566928"/>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881360" cy="914400"/>
          </a:xfrm>
          <a:prstGeom prst="rect">
            <a:avLst/>
          </a:prstGeom>
          <a:noFill/>
        </p:spPr>
        <p:txBody>
          <a:bodyPr wrap="square">
            <a:spAutoFit/>
          </a:bodyPr>
          <a:lstStyle/>
          <a:p>
            <a:r>
              <a:rPr sz="1200" b="1">
                <a:solidFill>
                  <a:srgbClr val="E11D2E"/>
                </a:solidFill>
              </a:rPr>
              <a:t>THE CONTROL CENTER</a:t>
            </a:r>
          </a:p>
          <a:p>
            <a:r>
              <a:rPr sz="3000" b="1">
                <a:solidFill>
                  <a:srgbClr val="FFFFFF"/>
                </a:solidFill>
              </a:rPr>
              <a:t>Summary</a:t>
            </a:r>
          </a:p>
        </p:txBody>
      </p:sp>
      <p:sp>
        <p:nvSpPr>
          <p:cNvPr id="5" name="TextBox 4"/>
          <p:cNvSpPr txBox="1"/>
          <p:nvPr/>
        </p:nvSpPr>
        <p:spPr>
          <a:xfrm>
            <a:off x="548640" y="6437376"/>
            <a:ext cx="11064240" cy="292608"/>
          </a:xfrm>
          <a:prstGeom prst="rect">
            <a:avLst/>
          </a:prstGeom>
          <a:noFill/>
        </p:spPr>
        <p:txBody>
          <a:bodyPr wrap="none">
            <a:spAutoFit/>
          </a:bodyPr>
          <a:lstStyle/>
          <a:p>
            <a:r>
              <a:rPr sz="900">
                <a:solidFill>
                  <a:srgbClr val="6B707A"/>
                </a:solidFill>
              </a:rPr>
              <a:t>27 Markets — CRM (Back-Office) Overview</a:t>
            </a:r>
            <a:r>
              <a:rPr sz="900">
                <a:solidFill>
                  <a:srgbClr val="6B707A"/>
                </a:solidFill>
              </a:rPr>
              <a:t>     |     Prepared by Core Care Consultancy</a:t>
            </a:r>
          </a:p>
        </p:txBody>
      </p:sp>
      <p:sp>
        <p:nvSpPr>
          <p:cNvPr id="6" name="TextBox 5"/>
          <p:cNvSpPr txBox="1"/>
          <p:nvPr/>
        </p:nvSpPr>
        <p:spPr>
          <a:xfrm>
            <a:off x="868680" y="1737360"/>
            <a:ext cx="10424160" cy="2743200"/>
          </a:xfrm>
          <a:prstGeom prst="rect">
            <a:avLst/>
          </a:prstGeom>
          <a:noFill/>
        </p:spPr>
        <p:txBody>
          <a:bodyPr wrap="square">
            <a:spAutoFit/>
          </a:bodyPr>
          <a:lstStyle/>
          <a:p>
            <a:r>
              <a:rPr sz="1800">
                <a:solidFill>
                  <a:srgbClr val="CBCFD6"/>
                </a:solidFill>
              </a:rPr>
              <a:t>The CRM is the control center of 27 Markets. It turns scattered, manual work into one secure system where leads convert faster, clients are served better, money moves only with proper approval, and the business stays compliant and fully auditable — with complete operational visibility today and a foundation that scales as 27 Markets grows.</a:t>
            </a:r>
          </a:p>
          <a:p>
            <a:pPr>
              <a:spcBef>
                <a:spcPts val="2600"/>
              </a:spcBef>
            </a:pPr>
            <a:r>
              <a:rPr sz="1400" b="1">
                <a:solidFill>
                  <a:srgbClr val="E11D2E"/>
                </a:solidFill>
              </a:rPr>
              <a:t>Prepared by Core Care Consultancy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